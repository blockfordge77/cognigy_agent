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9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ebchat-trial.cognigy.ai/v3/5f2c09b59871c0b09607be1f4f4b357a7cc0a25334a5a06dbb05f1bc55187105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CDE7CF"/>
                </a:solidFill>
                <a:latin typeface="Segoe UI" panose="020B0502040204020203"/>
              </a:rPr>
              <a:t>COGNIGY FDE CANDIDATE CHALLENGE</a:t>
            </a:r>
            <a:endParaRPr sz="1600" b="1" i="0">
              <a:solidFill>
                <a:srgbClr val="CDE7CF"/>
              </a:solidFill>
              <a:latin typeface="Segoe UI" panose="020B0502040204020203"/>
            </a:endParaRPr>
          </a:p>
          <a:p>
            <a:pPr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Segoe UI" panose="020B0502040204020203"/>
              </a:rPr>
              <a:t>Aurora Outdoors</a:t>
            </a:r>
            <a:endParaRPr sz="5400" b="1" i="0">
              <a:solidFill>
                <a:srgbClr val="FFFFFF"/>
              </a:solidFill>
              <a:latin typeface="Segoe UI" panose="020B0502040204020203"/>
            </a:endParaRPr>
          </a:p>
          <a:p>
            <a:pPr>
              <a:spcAft>
                <a:spcPts val="2600"/>
              </a:spcAft>
            </a:pPr>
            <a:r>
              <a:rPr sz="2400" b="0" i="0">
                <a:solidFill>
                  <a:srgbClr val="FFFFFF"/>
                </a:solidFill>
                <a:latin typeface="Segoe UI" panose="020B0502040204020203"/>
              </a:rPr>
              <a:t>An end-to-end AI Agent for retail customer experience — built on Cognigy.AI</a:t>
            </a:r>
            <a:endParaRPr sz="2400" b="0" i="0">
              <a:solidFill>
                <a:srgbClr val="FFFFFF"/>
              </a:solidFill>
              <a:latin typeface="Segoe UI" panose="020B0502040204020203"/>
            </a:endParaRPr>
          </a:p>
          <a:p>
            <a:pPr>
              <a:spcAft>
                <a:spcPts val="200"/>
              </a:spcAft>
            </a:pPr>
            <a:r>
              <a:rPr sz="1800" b="0" i="0">
                <a:solidFill>
                  <a:srgbClr val="E2F1E4"/>
                </a:solidFill>
                <a:latin typeface="Segoe UI" panose="020B0502040204020203"/>
              </a:rPr>
              <a:t>Austin Rogers</a:t>
            </a:r>
            <a:endParaRPr sz="1800" b="0" i="0">
              <a:solidFill>
                <a:srgbClr val="E2F1E4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400" b="0" i="1">
                <a:solidFill>
                  <a:srgbClr val="CDE7CF"/>
                </a:solidFill>
                <a:latin typeface="Segoe UI" panose="020B0502040204020203"/>
              </a:rPr>
              <a:t>5-min live demo  ·  10-min behind the scenes</a:t>
            </a:r>
            <a:endParaRPr sz="1400" b="0" i="1">
              <a:solidFill>
                <a:srgbClr val="CDE7C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DE7CF"/>
                </a:solidFill>
                <a:latin typeface="Segoe UI" panose="020B0502040204020203"/>
              </a:rPr>
              <a:t>WHY THIS USE CASE</a:t>
            </a:r>
            <a:endParaRPr sz="1200" b="1" i="0">
              <a:solidFill>
                <a:srgbClr val="CDE7CF"/>
              </a:solidFill>
              <a:latin typeface="Segoe UI" panose="020B0502040204020203"/>
            </a:endParaRPr>
          </a:p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 panose="020B0502040204020203"/>
              </a:rPr>
              <a:t>The scenario</a:t>
            </a:r>
            <a:endParaRPr sz="3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1C2B21"/>
                </a:solidFill>
                <a:latin typeface="Segoe UI" panose="020B0502040204020203"/>
              </a:rPr>
              <a:t>Aurora Outdoors — a European online shop for outdoor gear (tents, jackets, backpacks)</a:t>
            </a:r>
            <a:endParaRPr sz="2000" b="1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C2B21"/>
                </a:solidFill>
                <a:latin typeface="Segoe UI" panose="020B0502040204020203"/>
              </a:rPr>
              <a:t>Retail CX is where agentic AI earns its keep: repetitive questions, real transactions, and emotional moments — returns — where a bad bot loses a customer</a:t>
            </a:r>
            <a:endParaRPr sz="18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C2B21"/>
                </a:solidFill>
                <a:latin typeface="Segoe UI" panose="020B0502040204020203"/>
              </a:rPr>
              <a:t>Test customer: Erika Mustermann, three orders in three states — shipped (AO-1001), delivered (AO-1002), processing (AO-1003)</a:t>
            </a:r>
            <a:endParaRPr sz="18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C2B21"/>
                </a:solidFill>
                <a:latin typeface="Segoe UI" panose="020B0502040204020203"/>
              </a:rPr>
              <a:t>Airtable plays the order-management system: data is mocked, every integration is real and live</a:t>
            </a:r>
            <a:endParaRPr sz="180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C6B60"/>
                </a:solidFill>
                <a:latin typeface="Segoe UI" panose="020B0502040204020203"/>
              </a:rPr>
              <a:t>1</a:t>
            </a:r>
            <a:endParaRPr sz="1100" b="0" i="0">
              <a:solidFill>
                <a:srgbClr val="5C6B60"/>
              </a:solidFill>
              <a:latin typeface="Segoe UI" panose="020B0502040204020203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835" y="3982085"/>
            <a:ext cx="6888480" cy="208978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237095" y="6144260"/>
            <a:ext cx="2565400" cy="33718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sz="1600">
                <a:solidFill>
                  <a:srgbClr val="5C6B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Airtable base — Orders table</a:t>
            </a:r>
            <a:endParaRPr lang="en-US" altLang="zh-CN" sz="1600">
              <a:ln/>
              <a:solidFill>
                <a:srgbClr val="5C6B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DE7CF"/>
                </a:solidFill>
                <a:latin typeface="Segoe UI" panose="020B0502040204020203"/>
              </a:rPr>
              <a:t>WHAT WAS ASKED / WHAT WAS DELIVERED</a:t>
            </a:r>
            <a:endParaRPr sz="1200" b="1" i="0">
              <a:solidFill>
                <a:srgbClr val="CDE7CF"/>
              </a:solidFill>
              <a:latin typeface="Segoe UI" panose="020B0502040204020203"/>
            </a:endParaRPr>
          </a:p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 panose="020B0502040204020203"/>
              </a:rPr>
              <a:t>Challenge requirements — full coverage</a:t>
            </a:r>
            <a:endParaRPr sz="3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Segoe UI" panose="020B0502040204020203"/>
              </a:rPr>
              <a:t>✔  GenAI Knowledge for FAQ</a:t>
            </a:r>
            <a:endParaRPr sz="150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0" y="1325880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0" i="0">
                <a:solidFill>
                  <a:srgbClr val="1C2B21"/>
                </a:solidFill>
                <a:latin typeface="Segoe UI" panose="020B0502040204020203"/>
              </a:rPr>
              <a:t>12 FAQs per language in Cognigy Knowledge AI (EN + DE stores), grounded retrieval</a:t>
            </a:r>
            <a:endParaRPr sz="14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039112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Segoe UI" panose="020B0502040204020203"/>
              </a:rPr>
              <a:t>✔  Check Order Status via 3rd-party system</a:t>
            </a:r>
            <a:endParaRPr sz="150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3520" y="203911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0" i="0">
                <a:solidFill>
                  <a:srgbClr val="1C2B21"/>
                </a:solidFill>
                <a:latin typeface="Segoe UI" panose="020B0502040204020203"/>
              </a:rPr>
              <a:t>Live Airtable REST integration through a custom-built Cognigy Extension</a:t>
            </a:r>
            <a:endParaRPr sz="14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752344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Segoe UI" panose="020B0502040204020203"/>
              </a:rPr>
              <a:t>✔  RMA flow with xApp</a:t>
            </a:r>
            <a:endParaRPr sz="150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03520" y="2752344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0" i="0">
                <a:solidFill>
                  <a:srgbClr val="1C2B21"/>
                </a:solidFill>
                <a:latin typeface="Segoe UI" panose="020B0502040204020203"/>
              </a:rPr>
              <a:t>xApp overlay form, products pulled live from the order; selection written back to Airtable</a:t>
            </a:r>
            <a:endParaRPr sz="14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465576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Segoe UI" panose="020B0502040204020203"/>
              </a:rPr>
              <a:t>✔  One additional tool</a:t>
            </a:r>
            <a:endParaRPr sz="150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0" y="3465576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0" i="0">
                <a:solidFill>
                  <a:srgbClr val="1C2B21"/>
                </a:solidFill>
                <a:latin typeface="Segoe UI" panose="020B0502040204020203"/>
              </a:rPr>
              <a:t>Create Support Ticket — new row in Airtable with confirmation number</a:t>
            </a:r>
            <a:endParaRPr sz="14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178808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Segoe UI" panose="020B0502040204020203"/>
              </a:rPr>
              <a:t>✔  English + 2nd language, switched live</a:t>
            </a:r>
            <a:endParaRPr sz="150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3520" y="4178808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0" i="0">
                <a:solidFill>
                  <a:srgbClr val="1C2B21"/>
                </a:solidFill>
                <a:latin typeface="Segoe UI" panose="020B0502040204020203"/>
              </a:rPr>
              <a:t>German — agent-triggered locale switch mid-conversation, bilingual xApp</a:t>
            </a:r>
            <a:endParaRPr sz="14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Segoe UI" panose="020B0502040204020203"/>
              </a:rPr>
              <a:t>✔  Deploy on Webchat</a:t>
            </a:r>
            <a:endParaRPr sz="150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0" y="4892040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0" i="0">
                <a:solidFill>
                  <a:srgbClr val="1C2B21"/>
                </a:solidFill>
                <a:latin typeface="Segoe UI" panose="020B0502040204020203"/>
              </a:rPr>
              <a:t>Cognigy Webchat v3 endpoint with xApp overlay</a:t>
            </a:r>
            <a:endParaRPr sz="14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5605272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Segoe UI" panose="020B0502040204020203"/>
              </a:rPr>
              <a:t>✔  Stability + demo script</a:t>
            </a:r>
            <a:endParaRPr sz="150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03520" y="560527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50" b="0" i="0">
                <a:solidFill>
                  <a:srgbClr val="1C2B21"/>
                </a:solidFill>
                <a:latin typeface="Segoe UI" panose="020B0502040204020203"/>
              </a:rPr>
              <a:t>Every happy path scripted with expected results, incl. Airtable row checks</a:t>
            </a:r>
            <a:endParaRPr sz="14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C6B60"/>
                </a:solidFill>
                <a:latin typeface="Segoe UI" panose="020B0502040204020203"/>
              </a:rPr>
              <a:t>2</a:t>
            </a:r>
            <a:endParaRPr sz="1100" b="0" i="0">
              <a:solidFill>
                <a:srgbClr val="5C6B6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DE7CF"/>
                </a:solidFill>
                <a:latin typeface="Segoe UI" panose="020B0502040204020203"/>
              </a:rPr>
              <a:t>AS BUILT</a:t>
            </a:r>
            <a:endParaRPr sz="1200" b="1" i="0">
              <a:solidFill>
                <a:srgbClr val="CDE7CF"/>
              </a:solidFill>
              <a:latin typeface="Segoe UI" panose="020B0502040204020203"/>
            </a:endParaRPr>
          </a:p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 panose="020B0502040204020203"/>
              </a:rPr>
              <a:t>Architecture — one agent, four tools</a:t>
            </a:r>
            <a:endParaRPr sz="3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AI Agent “Ava” (persona + Customer Service job) drives every conversation — no intent trees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FAQ questions ground against Knowledge Stores (EN / DE) attached to the agent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Transactional asks run through four tools; each tool branch calls a custom Airtable Extension node and returns a Tool Answer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Returns open an xApp overlay in Webchat; the submitted choice flows back and is written to Airtable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C6B60"/>
                </a:solidFill>
                <a:latin typeface="Segoe UI" panose="020B0502040204020203"/>
              </a:rPr>
              <a:t>3</a:t>
            </a:r>
            <a:endParaRPr sz="1100" b="0" i="0">
              <a:solidFill>
                <a:srgbClr val="5C6B60"/>
              </a:solidFill>
              <a:latin typeface="Segoe UI" panose="020B0502040204020203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97635"/>
            <a:ext cx="5173345" cy="439229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101715" y="5965190"/>
            <a:ext cx="6102985" cy="481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spcAft>
                <a:spcPts val="0"/>
              </a:spcAft>
            </a:pPr>
            <a:r>
              <a:rPr sz="1300">
                <a:solidFill>
                  <a:srgbClr val="5C6B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Flow editor — full flow with the 5 branches
(Default, get_order_status, create_support_ticket, start_return, switch_language)</a:t>
            </a:r>
            <a:endParaRPr lang="en-US" sz="1300">
              <a:solidFill>
                <a:srgbClr val="5C6B6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DE7CF"/>
                </a:solidFill>
                <a:latin typeface="Segoe UI" panose="020B0502040204020203"/>
              </a:rPr>
              <a:t>THE CUSTOMER'S VIEW</a:t>
            </a:r>
            <a:endParaRPr sz="1200" b="1" i="0">
              <a:solidFill>
                <a:srgbClr val="CDE7CF"/>
              </a:solidFill>
              <a:latin typeface="Segoe UI" panose="020B0502040204020203"/>
            </a:endParaRPr>
          </a:p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 panose="020B0502040204020203"/>
              </a:rPr>
              <a:t>Live demo — 5 minutes</a:t>
            </a:r>
            <a:endParaRPr sz="3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1C2B21"/>
                </a:solidFill>
                <a:latin typeface="Segoe UI" panose="020B0502040204020203"/>
              </a:rPr>
              <a:t>1 · FAQ, grounded:  “What's your return policy?” — retrieved from the knowledge store, zero FAQ intents</a:t>
            </a:r>
            <a:endParaRPr sz="18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C2B21"/>
                </a:solidFill>
                <a:latin typeface="Segoe UI" panose="020B0502040204020203"/>
              </a:rPr>
              <a:t>2 · Order status:  “Where is my order AO-1001? …” — live Airtable lookup: shipped, DHL, tracking number</a:t>
            </a:r>
            <a:endParaRPr sz="18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C2B21"/>
                </a:solidFill>
                <a:latin typeface="Segoe UI" panose="020B0502040204020203"/>
              </a:rPr>
              <a:t>3 · Return with xApp:  “I'd like to return something from AO-1002…” — overlay form with that order's real items, hygiene item greyed out; pick the jacket → RMA number confirmed</a:t>
            </a:r>
            <a:endParaRPr sz="18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C2B21"/>
                </a:solidFill>
                <a:latin typeface="Segoe UI" panose="020B0502040204020203"/>
              </a:rPr>
              <a:t>4 · Live switch to German:  “Können wir auf Deutsch weitermachen?” — same agent, German answers grounded in the German knowledge store</a:t>
            </a:r>
            <a:endParaRPr sz="18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C2B21"/>
                </a:solidFill>
                <a:latin typeface="Segoe UI" panose="020B0502040204020203"/>
              </a:rPr>
              <a:t>5 · Support ticket in German — confirmation number, row visible in Airtable immediately</a:t>
            </a:r>
            <a:endParaRPr sz="18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E65100"/>
                </a:solidFill>
                <a:latin typeface="Segoe UI" panose="020B0502040204020203"/>
                <a:hlinkClick r:id="rId1" tooltip="" action="ppaction://hlinkfile"/>
              </a:rPr>
              <a:t>→ switching to the Webchat now</a:t>
            </a:r>
            <a:endParaRPr sz="1800" b="1" i="0">
              <a:solidFill>
                <a:srgbClr val="E65100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C6B60"/>
                </a:solidFill>
                <a:latin typeface="Segoe UI" panose="020B0502040204020203"/>
              </a:rPr>
              <a:t>4</a:t>
            </a:r>
            <a:endParaRPr sz="1100" b="0" i="0">
              <a:solidFill>
                <a:srgbClr val="5C6B6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DE7CF"/>
                </a:solidFill>
                <a:latin typeface="Segoe UI" panose="020B0502040204020203"/>
              </a:rPr>
              <a:t>AI AGENT + TOOLS</a:t>
            </a:r>
            <a:endParaRPr sz="1200" b="1" i="0">
              <a:solidFill>
                <a:srgbClr val="CDE7CF"/>
              </a:solidFill>
              <a:latin typeface="Segoe UI" panose="020B0502040204020203"/>
            </a:endParaRPr>
          </a:p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 panose="020B0502040204020203"/>
              </a:rPr>
              <a:t>Behind the scenes 1 — the conversation brain</a:t>
            </a:r>
            <a:endParaRPr sz="3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C2B21"/>
                </a:solidFill>
                <a:latin typeface="Segoe UI" panose="020B0502040204020203"/>
              </a:rPr>
              <a:t>One AI Agent node, five branches — the LLM decides which tool to call from the tool descriptions</a:t>
            </a:r>
            <a:endParaRPr sz="16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C2B21"/>
                </a:solidFill>
                <a:latin typeface="Segoe UI" panose="020B0502040204020203"/>
              </a:rPr>
              <a:t>Tool descriptions are the real programming surface: “opens a visual form — never ask in chat which product” changes behavior</a:t>
            </a:r>
            <a:endParaRPr sz="16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C2B21"/>
                </a:solidFill>
                <a:latin typeface="Segoe UI" panose="020B0502040204020203"/>
              </a:rPr>
              <a:t>Every branch ends in a Tool Answer that hands structured results back to the agent — the agent phrases the reply</a:t>
            </a:r>
            <a:endParaRPr sz="16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C2B21"/>
                </a:solidFill>
                <a:latin typeface="Segoe UI" panose="020B0502040204020203"/>
              </a:rPr>
              <a:t>Guardrails: collect order number AND email before lookups; never invent order data</a:t>
            </a:r>
            <a:endParaRPr sz="160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C6B60"/>
                </a:solidFill>
                <a:latin typeface="Segoe UI" panose="020B0502040204020203"/>
              </a:rPr>
              <a:t>5</a:t>
            </a:r>
            <a:endParaRPr sz="1100" b="0" i="0">
              <a:solidFill>
                <a:srgbClr val="5C6B60"/>
              </a:solidFill>
              <a:latin typeface="Segoe UI" panose="020B0502040204020203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5885" y="1149985"/>
            <a:ext cx="5476240" cy="260477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974080" y="3686175"/>
            <a:ext cx="6096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spcAft>
                <a:spcPts val="0"/>
              </a:spcAft>
            </a:pPr>
            <a:r>
              <a:rPr sz="1300" i="1">
                <a:solidFill>
                  <a:srgbClr val="5C6B60"/>
                </a:solidFill>
                <a:latin typeface="Segoe UI" panose="020B0502040204020203"/>
                <a:sym typeface="+mn-ea"/>
              </a:rPr>
              <a:t>AI Agent editor — job instructions + 4 tools</a:t>
            </a:r>
            <a:endParaRPr lang="en-US" sz="1300" i="1">
              <a:solidFill>
                <a:srgbClr val="5C6B60"/>
              </a:solidFill>
              <a:latin typeface="Segoe UI" panose="020B0502040204020203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974080" y="6475095"/>
            <a:ext cx="6096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spcAft>
                <a:spcPts val="0"/>
              </a:spcAft>
            </a:pPr>
            <a:r>
              <a:rPr sz="1300" i="1">
                <a:solidFill>
                  <a:srgbClr val="5C6B60"/>
                </a:solidFill>
                <a:latin typeface="Segoe UI" panose="020B0502040204020203"/>
                <a:sym typeface="+mn-ea"/>
              </a:rPr>
              <a:t>get_order_status branch:</a:t>
            </a:r>
            <a:r>
              <a:rPr lang="en-US" sz="1300" i="1">
                <a:solidFill>
                  <a:srgbClr val="5C6B60"/>
                </a:solidFill>
                <a:latin typeface="Segoe UI" panose="020B0502040204020203"/>
                <a:sym typeface="+mn-ea"/>
              </a:rPr>
              <a:t> </a:t>
            </a:r>
            <a:r>
              <a:rPr sz="1300" i="1">
                <a:solidFill>
                  <a:srgbClr val="5C6B60"/>
                </a:solidFill>
                <a:latin typeface="Segoe UI" panose="020B0502040204020203"/>
                <a:sym typeface="+mn-ea"/>
              </a:rPr>
              <a:t>Get Order Status → Tool Answer</a:t>
            </a:r>
            <a:endParaRPr lang="en-US" sz="1300" i="1">
              <a:solidFill>
                <a:srgbClr val="5C6B60"/>
              </a:solidFill>
              <a:latin typeface="Segoe UI" panose="020B0502040204020203"/>
              <a:sym typeface="+mn-e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730" y="3945255"/>
            <a:ext cx="5161915" cy="2501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DE7CF"/>
                </a:solidFill>
                <a:latin typeface="Segoe UI" panose="020B0502040204020203"/>
              </a:rPr>
              <a:t>CUSTOM COGNIGY EXTENSION (TYPESCRIPT)</a:t>
            </a:r>
            <a:endParaRPr sz="1200" b="1" i="0">
              <a:solidFill>
                <a:srgbClr val="CDE7CF"/>
              </a:solidFill>
              <a:latin typeface="Segoe UI" panose="020B0502040204020203"/>
            </a:endParaRPr>
          </a:p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 panose="020B0502040204020203"/>
              </a:rPr>
              <a:t>Behind the scenes 2 — the integration layer</a:t>
            </a:r>
            <a:endParaRPr sz="3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675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Four custom flow nodes wrap the Airtable API: Get Order Status · Get Order Items · Create RMA · Create Support Ticket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C2B21"/>
                </a:solidFill>
                <a:latin typeface="Segoe UI" panose="020B0502040204020203"/>
              </a:rPr>
              <a:t>Why an Extension instead of HTTP nodes:</a:t>
            </a:r>
            <a:endParaRPr sz="1700" b="1" i="0">
              <a:solidFill>
                <a:srgbClr val="1C2B21"/>
              </a:solidFill>
              <a:latin typeface="Segoe UI" panose="020B0502040204020203"/>
            </a:endParaRP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1C2B21"/>
                </a:solidFill>
                <a:latin typeface="Segoe UI" panose="020B0502040204020203"/>
              </a:rPr>
              <a:t>Reusable — any designer drags the node into any flow, no copied URLs</a:t>
            </a:r>
            <a:endParaRPr sz="1500" b="0" i="0">
              <a:solidFill>
                <a:srgbClr val="1C2B21"/>
              </a:solidFill>
              <a:latin typeface="Segoe UI" panose="020B0502040204020203"/>
            </a:endParaRP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1C2B21"/>
                </a:solidFill>
                <a:latin typeface="Segoe UI" panose="020B0502040204020203"/>
              </a:rPr>
              <a:t>Secure — the Airtable token lives in an encrypted managed Connection, never in flow config</a:t>
            </a:r>
            <a:endParaRPr sz="1500" b="0" i="0">
              <a:solidFill>
                <a:srgbClr val="1C2B21"/>
              </a:solidFill>
              <a:latin typeface="Segoe UI" panose="020B0502040204020203"/>
            </a:endParaRP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1C2B21"/>
                </a:solidFill>
                <a:latin typeface="Segoe UI" panose="020B0502040204020203"/>
              </a:rPr>
              <a:t>Robust — one place for timeouts and errors; failures degrade to a friendly fallback, never a dead conversation</a:t>
            </a:r>
            <a:endParaRPr sz="1500" b="0" i="0">
              <a:solidFill>
                <a:srgbClr val="1C2B21"/>
              </a:solidFill>
              <a:latin typeface="Segoe UI" panose="020B0502040204020203"/>
            </a:endParaRP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1C2B21"/>
                </a:solidFill>
                <a:latin typeface="Segoe UI" panose="020B0502040204020203"/>
              </a:rPr>
              <a:t>Identity check — order lookups require order number AND matching email in one query</a:t>
            </a:r>
            <a:endParaRPr sz="15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1">
                <a:solidFill>
                  <a:srgbClr val="2E7D32"/>
                </a:solidFill>
                <a:latin typeface="Segoe UI" panose="020B0502040204020203"/>
              </a:rPr>
              <a:t>Swap Airtable for SAP/Shopify later: only the Extension internals change — flows, form, tests untouched</a:t>
            </a:r>
            <a:endParaRPr sz="1700" b="0" i="1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C6B60"/>
                </a:solidFill>
                <a:latin typeface="Segoe UI" panose="020B0502040204020203"/>
              </a:rPr>
              <a:t>6</a:t>
            </a:r>
            <a:endParaRPr sz="1100" b="0" i="0">
              <a:solidFill>
                <a:srgbClr val="5C6B60"/>
              </a:solidFill>
              <a:latin typeface="Segoe UI" panose="020B0502040204020203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130300"/>
            <a:ext cx="4267200" cy="234442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811010" y="3557270"/>
            <a:ext cx="6096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spcAft>
                <a:spcPts val="0"/>
              </a:spcAft>
            </a:pPr>
            <a:r>
              <a:rPr sz="1300" i="1">
                <a:solidFill>
                  <a:srgbClr val="5C6B60"/>
                </a:solidFill>
                <a:latin typeface="Segoe UI" panose="020B0502040204020203"/>
                <a:sym typeface="+mn-ea"/>
              </a:rPr>
              <a:t>Manage → Extensions:</a:t>
            </a:r>
            <a:r>
              <a:rPr lang="en-US" sz="1300" i="1">
                <a:solidFill>
                  <a:srgbClr val="5C6B60"/>
                </a:solidFill>
                <a:latin typeface="Segoe UI" panose="020B0502040204020203"/>
                <a:sym typeface="+mn-ea"/>
              </a:rPr>
              <a:t> </a:t>
            </a:r>
            <a:r>
              <a:rPr sz="1300" i="1">
                <a:solidFill>
                  <a:srgbClr val="5C6B60"/>
                </a:solidFill>
                <a:latin typeface="Segoe UI" panose="020B0502040204020203"/>
                <a:sym typeface="+mn-ea"/>
              </a:rPr>
              <a:t>Aurora Airtable, 4 nodes</a:t>
            </a:r>
            <a:endParaRPr lang="en-US" sz="1300" i="1">
              <a:solidFill>
                <a:srgbClr val="5C6B60"/>
              </a:solidFill>
              <a:latin typeface="Segoe UI" panose="020B0502040204020203"/>
              <a:sym typeface="+mn-ea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931285"/>
            <a:ext cx="4566920" cy="2056765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6725920" y="6231255"/>
            <a:ext cx="6096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spcAft>
                <a:spcPts val="0"/>
              </a:spcAft>
            </a:pPr>
            <a:r>
              <a:rPr sz="1300" i="1">
                <a:solidFill>
                  <a:srgbClr val="5C6B60"/>
                </a:solidFill>
                <a:latin typeface="Segoe UI" panose="020B0502040204020203"/>
                <a:sym typeface="+mn-ea"/>
              </a:rPr>
              <a:t>Node config: connection +</a:t>
            </a:r>
            <a:r>
              <a:rPr lang="en-US" sz="1300" i="1">
                <a:solidFill>
                  <a:srgbClr val="5C6B60"/>
                </a:solidFill>
                <a:latin typeface="Segoe UI" panose="020B0502040204020203"/>
                <a:sym typeface="+mn-ea"/>
              </a:rPr>
              <a:t> </a:t>
            </a:r>
            <a:r>
              <a:rPr sz="1300" i="1">
                <a:solidFill>
                  <a:srgbClr val="5C6B60"/>
                </a:solidFill>
                <a:latin typeface="Segoe UI" panose="020B0502040204020203"/>
                <a:sym typeface="+mn-ea"/>
              </a:rPr>
              <a:t>fields (no secrets visible)</a:t>
            </a:r>
            <a:endParaRPr lang="en-US" sz="1300" i="1">
              <a:solidFill>
                <a:srgbClr val="5C6B60"/>
              </a:solidFill>
              <a:latin typeface="Segoe UI" panose="020B0502040204020203"/>
              <a:sym typeface="+mn-ea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720" y="4010660"/>
            <a:ext cx="1923415" cy="19773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DE7CF"/>
                </a:solidFill>
                <a:latin typeface="Segoe UI" panose="020B0502040204020203"/>
              </a:rPr>
              <a:t>DYNAMIC · BILINGUAL · IN-CHAT OVERLAY</a:t>
            </a:r>
            <a:endParaRPr sz="1200" b="1" i="0">
              <a:solidFill>
                <a:srgbClr val="CDE7CF"/>
              </a:solidFill>
              <a:latin typeface="Segoe UI" panose="020B0502040204020203"/>
            </a:endParaRPr>
          </a:p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 panose="020B0502040204020203"/>
              </a:rPr>
              <a:t>Behind the scenes 3 — the return form (xApp)</a:t>
            </a:r>
            <a:endParaRPr sz="3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309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The form is not hard-coded: the flow fetches the order's real line items seconds earlier and injects them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Business rules render in the UI: non-returnable hygiene items (ThermoFlask) are greyed out — same policy the FAQ states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Opens as an overlay inside Webchat; submit closes it and the selection flows back into the conversation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The write-back is immediate: a new RMA row in Airtable + confirmation number in chat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Bilingual: the form reads the session locale — a German conversation gets German labels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C6B60"/>
                </a:solidFill>
                <a:latin typeface="Segoe UI" panose="020B0502040204020203"/>
              </a:rPr>
              <a:t>7</a:t>
            </a:r>
            <a:endParaRPr sz="1100" b="0" i="0">
              <a:solidFill>
                <a:srgbClr val="5C6B60"/>
              </a:solidFill>
              <a:latin typeface="Segoe UI" panose="020B0502040204020203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0745" y="1297940"/>
            <a:ext cx="1758950" cy="27425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440" y="1285240"/>
            <a:ext cx="1859915" cy="28168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2440" y="4297045"/>
            <a:ext cx="1635125" cy="256095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740" y="4835525"/>
            <a:ext cx="4970145" cy="1565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DE7CF"/>
                </a:solidFill>
                <a:latin typeface="Segoe UI" panose="020B0502040204020203"/>
              </a:rPr>
              <a:t>GROUNDED, LOCALIZED, SWITCHED LIVE</a:t>
            </a:r>
            <a:endParaRPr sz="1200" b="1" i="0">
              <a:solidFill>
                <a:srgbClr val="CDE7CF"/>
              </a:solidFill>
              <a:latin typeface="Segoe UI" panose="020B0502040204020203"/>
            </a:endParaRPr>
          </a:p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 panose="020B0502040204020203"/>
              </a:rPr>
              <a:t>Behind the scenes 4 — knowledge &amp; languages</a:t>
            </a:r>
            <a:endParaRPr sz="3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309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Two knowledge stores, same 12 FAQs, localized — not machine-translated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German answers cite German facts: “4,95 EUR” with the comma decimal proves retrieval from the DE store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switch_language tool: the agent detects the request and switches the session locale mid-conversation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One flow, both languages — logic exists once; the locale changes content, not structure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C6B60"/>
                </a:solidFill>
                <a:latin typeface="Segoe UI" panose="020B0502040204020203"/>
              </a:rPr>
              <a:t>8</a:t>
            </a:r>
            <a:endParaRPr sz="1100" b="0" i="0">
              <a:solidFill>
                <a:srgbClr val="5C6B60"/>
              </a:solidFill>
              <a:latin typeface="Segoe UI" panose="020B0502040204020203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280160"/>
            <a:ext cx="4712335" cy="21672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3137535"/>
            <a:ext cx="2229485" cy="35236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840" y="2921635"/>
            <a:ext cx="2555240" cy="37395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DE7CF"/>
                </a:solidFill>
                <a:latin typeface="Segoe UI" panose="020B0502040204020203"/>
              </a:rPr>
              <a:t>EVERY DEMO ACTION LEAVES A ROW</a:t>
            </a:r>
            <a:endParaRPr sz="1200" b="1" i="0">
              <a:solidFill>
                <a:srgbClr val="CDE7CF"/>
              </a:solidFill>
              <a:latin typeface="Segoe UI" panose="020B0502040204020203"/>
            </a:endParaRPr>
          </a:p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 panose="020B0502040204020203"/>
              </a:rPr>
              <a:t>Behind the scenes 5 — the system of record</a:t>
            </a:r>
            <a:endParaRPr sz="3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Four tables: Orders · OrderItems · RMAs · Tickets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The demo writes real records: the RMA you just watched and the ticket from the German conversation are rows now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Seed data is deliberate test design: one order per state (shipped / delivered / processing) so every scenario has a dedicated row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C2B21"/>
                </a:solidFill>
                <a:latin typeface="Segoe UI" panose="020B0502040204020203"/>
              </a:rPr>
              <a:t>Demo data is reset between runs so every demo starts identical</a:t>
            </a:r>
            <a:endParaRPr sz="170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C6B60"/>
                </a:solidFill>
                <a:latin typeface="Segoe UI" panose="020B0502040204020203"/>
              </a:rPr>
              <a:t>9</a:t>
            </a:r>
            <a:endParaRPr sz="1100" b="0" i="0">
              <a:solidFill>
                <a:srgbClr val="5C6B60"/>
              </a:solidFill>
              <a:latin typeface="Segoe UI" panose="020B0502040204020203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500" y="4005580"/>
            <a:ext cx="5620385" cy="22212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633085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DE7CF"/>
                </a:solidFill>
                <a:latin typeface="Segoe UI" panose="020B0502040204020203"/>
              </a:rPr>
              <a:t>TEST CASES WITH EXPECTED RESULTS</a:t>
            </a:r>
            <a:endParaRPr sz="1200" b="1" i="0">
              <a:solidFill>
                <a:srgbClr val="CDE7CF"/>
              </a:solidFill>
              <a:latin typeface="Segoe UI" panose="020B0502040204020203"/>
            </a:endParaRPr>
          </a:p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 panose="020B0502040204020203"/>
              </a:rPr>
              <a:t>Stability — tested like production software</a:t>
            </a:r>
            <a:endParaRPr sz="3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Segoe UI" panose="020B0502040204020203"/>
              </a:rPr>
              <a:t>FAQ grounding</a:t>
            </a:r>
            <a:endParaRPr sz="135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08960" y="128016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C2B21"/>
                </a:solidFill>
                <a:latin typeface="Segoe UI" panose="020B0502040204020203"/>
              </a:rPr>
              <a:t>“What is your return policy?”</a:t>
            </a:r>
            <a:endParaRPr sz="13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92240" y="1280160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5C6B60"/>
                </a:solidFill>
                <a:latin typeface="Segoe UI" panose="020B0502040204020203"/>
              </a:rPr>
              <a:t>30 days, unused, original packaging — from the FAQ file</a:t>
            </a:r>
            <a:endParaRPr sz="1350" b="0" i="0">
              <a:solidFill>
                <a:srgbClr val="5C6B60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993391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Segoe UI" panose="020B0502040204020203"/>
              </a:rPr>
              <a:t>Order lookup</a:t>
            </a:r>
            <a:endParaRPr sz="135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08960" y="1993391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C2B21"/>
                </a:solidFill>
                <a:latin typeface="Segoe UI" panose="020B0502040204020203"/>
              </a:rPr>
              <a:t>AO-1001 + correct email</a:t>
            </a:r>
            <a:endParaRPr sz="13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1993391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5C6B60"/>
                </a:solidFill>
                <a:latin typeface="Segoe UI" panose="020B0502040204020203"/>
              </a:rPr>
              <a:t>Shipped · DHL · tracking DHL-778812345</a:t>
            </a:r>
            <a:endParaRPr sz="1350" b="0" i="0">
              <a:solidFill>
                <a:srgbClr val="5C6B60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706624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Segoe UI" panose="020B0502040204020203"/>
              </a:rPr>
              <a:t>Identity check</a:t>
            </a:r>
            <a:endParaRPr sz="135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08960" y="270662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C2B21"/>
                </a:solidFill>
                <a:latin typeface="Segoe UI" panose="020B0502040204020203"/>
              </a:rPr>
              <a:t>AO-1001 + wrong email</a:t>
            </a:r>
            <a:endParaRPr sz="13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2706624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5C6B60"/>
                </a:solidFill>
                <a:latin typeface="Segoe UI" panose="020B0502040204020203"/>
              </a:rPr>
              <a:t>Not found — no data leak</a:t>
            </a:r>
            <a:endParaRPr sz="1350" b="0" i="0">
              <a:solidFill>
                <a:srgbClr val="5C6B60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3419856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Segoe UI" panose="020B0502040204020203"/>
              </a:rPr>
              <a:t>Anti-hallucination</a:t>
            </a:r>
            <a:endParaRPr sz="135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08960" y="3419856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C2B21"/>
                </a:solidFill>
                <a:latin typeface="Segoe UI" panose="020B0502040204020203"/>
              </a:rPr>
              <a:t>Order AO-9999</a:t>
            </a:r>
            <a:endParaRPr sz="13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3419856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5C6B60"/>
                </a:solidFill>
                <a:latin typeface="Segoe UI" panose="020B0502040204020203"/>
              </a:rPr>
              <a:t>“Can't find that order” — never invented</a:t>
            </a:r>
            <a:endParaRPr sz="1350" b="0" i="0">
              <a:solidFill>
                <a:srgbClr val="5C6B60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413308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Segoe UI" panose="020B0502040204020203"/>
              </a:rPr>
              <a:t>RMA end-to-end</a:t>
            </a:r>
            <a:endParaRPr sz="135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08960" y="4133088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C2B21"/>
                </a:solidFill>
                <a:latin typeface="Segoe UI" panose="020B0502040204020203"/>
              </a:rPr>
              <a:t>Return jacket from AO-1002</a:t>
            </a:r>
            <a:endParaRPr sz="13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413308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5C6B60"/>
                </a:solidFill>
                <a:latin typeface="Segoe UI" panose="020B0502040204020203"/>
              </a:rPr>
              <a:t>Overlay → submit → RMA row in Airtable + number in chat</a:t>
            </a:r>
            <a:endParaRPr sz="1350" b="0" i="0">
              <a:solidFill>
                <a:srgbClr val="5C6B60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Segoe UI" panose="020B0502040204020203"/>
              </a:rPr>
              <a:t>German grounding</a:t>
            </a:r>
            <a:endParaRPr sz="135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08960" y="484632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C2B21"/>
                </a:solidFill>
                <a:latin typeface="Segoe UI" panose="020B0502040204020203"/>
              </a:rPr>
              <a:t>“Was kostet der Versand?”</a:t>
            </a:r>
            <a:endParaRPr sz="13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4846320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5C6B60"/>
                </a:solidFill>
                <a:latin typeface="Segoe UI" panose="020B0502040204020203"/>
              </a:rPr>
              <a:t>4,95 EUR — from the German store</a:t>
            </a:r>
            <a:endParaRPr sz="1350" b="0" i="0">
              <a:solidFill>
                <a:srgbClr val="5C6B60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555955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Segoe UI" panose="020B0502040204020203"/>
              </a:rPr>
              <a:t>Failure mode</a:t>
            </a:r>
            <a:endParaRPr sz="135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08960" y="5559552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C2B21"/>
                </a:solidFill>
                <a:latin typeface="Segoe UI" panose="020B0502040204020203"/>
              </a:rPr>
              <a:t>Airtable token revoked</a:t>
            </a:r>
            <a:endParaRPr sz="1350" b="0" i="0">
              <a:solidFill>
                <a:srgbClr val="1C2B21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5559552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5C6B60"/>
                </a:solidFill>
                <a:latin typeface="Segoe UI" panose="020B0502040204020203"/>
              </a:rPr>
              <a:t>Friendly fallback + ticket offer — no crash</a:t>
            </a:r>
            <a:endParaRPr sz="1350" b="0" i="0">
              <a:solidFill>
                <a:srgbClr val="5C6B60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C6B60"/>
                </a:solidFill>
                <a:latin typeface="Segoe UI" panose="020B0502040204020203"/>
              </a:rPr>
              <a:t>10</a:t>
            </a:r>
            <a:endParaRPr sz="1100" b="0" i="0">
              <a:solidFill>
                <a:srgbClr val="5C6B6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DE7CF"/>
                </a:solidFill>
                <a:latin typeface="Segoe UI" panose="020B0502040204020203"/>
              </a:rPr>
              <a:t>WHAT COMES NEXT</a:t>
            </a:r>
            <a:endParaRPr sz="1200" b="1" i="0">
              <a:solidFill>
                <a:srgbClr val="CDE7CF"/>
              </a:solidFill>
              <a:latin typeface="Segoe UI" panose="020B0502040204020203"/>
            </a:endParaRPr>
          </a:p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 panose="020B0502040204020203"/>
              </a:rPr>
              <a:t>If this were a real engagement</a:t>
            </a:r>
            <a:endParaRPr sz="3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1C2B21"/>
                </a:solidFill>
                <a:latin typeface="Segoe UI" panose="020B0502040204020203"/>
              </a:rPr>
              <a:t>Voice: same agent and tools on a voice endpoint; the xApp becomes cross-device via QR session</a:t>
            </a:r>
            <a:endParaRPr sz="18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C2B21"/>
                </a:solidFill>
                <a:latin typeface="Segoe UI" panose="020B0502040204020203"/>
              </a:rPr>
              <a:t>Human handover: the platform's Handover to Human Agent tool, with full context and the ticket already created</a:t>
            </a:r>
            <a:endParaRPr sz="18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C2B21"/>
                </a:solidFill>
                <a:latin typeface="Segoe UI" panose="020B0502040204020203"/>
              </a:rPr>
              <a:t>Analytics: Cognigy Insights — containment, tool success rates, knowledge gaps feeding FAQ updates</a:t>
            </a:r>
            <a:endParaRPr sz="18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C2B21"/>
                </a:solidFill>
                <a:latin typeface="Segoe UI" panose="020B0502040204020203"/>
              </a:rPr>
              <a:t>Automated regression: happy paths as an automated suite against a REST endpoint, gating every prompt change</a:t>
            </a:r>
            <a:endParaRPr sz="1800" b="0" i="0">
              <a:solidFill>
                <a:srgbClr val="1C2B21"/>
              </a:solidFill>
              <a:latin typeface="Segoe UI" panose="020B0502040204020203"/>
            </a:endParaRP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7D32"/>
                </a:solidFill>
                <a:latin typeface="Segoe UI" panose="020B0502040204020203"/>
              </a:rPr>
              <a:t>Real OMS: swap Airtable for SAP/Shopify/Salesforce — only the Extension internals change. That's the point of the abstraction.</a:t>
            </a:r>
            <a:endParaRPr sz="1800" b="1" i="0">
              <a:solidFill>
                <a:srgbClr val="2E7D3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 i="0">
                <a:solidFill>
                  <a:srgbClr val="5C6B60"/>
                </a:solidFill>
                <a:latin typeface="Segoe UI" panose="020B0502040204020203"/>
              </a:rPr>
              <a:t>11</a:t>
            </a:r>
            <a:endParaRPr sz="1100" b="0" i="0">
              <a:solidFill>
                <a:srgbClr val="5C6B6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4800" b="1" i="0">
                <a:solidFill>
                  <a:srgbClr val="FFFFFF"/>
                </a:solidFill>
                <a:latin typeface="Segoe UI" panose="020B0502040204020203"/>
              </a:rPr>
              <a:t>Thank you</a:t>
            </a:r>
            <a:endParaRPr sz="4800" b="1" i="0">
              <a:solidFill>
                <a:srgbClr val="FFFFFF"/>
              </a:solidFill>
              <a:latin typeface="Segoe UI" panose="020B0502040204020203"/>
            </a:endParaRPr>
          </a:p>
          <a:p>
            <a:pPr>
              <a:spcAft>
                <a:spcPts val="2400"/>
              </a:spcAft>
            </a:pPr>
            <a:r>
              <a:rPr sz="2000" b="0" i="0">
                <a:solidFill>
                  <a:srgbClr val="E2F1E4"/>
                </a:solidFill>
                <a:latin typeface="Segoe UI" panose="020B0502040204020203"/>
              </a:rPr>
              <a:t>Grounded FAQ · live order data · in-chat return form · two languages · every action a row in the system of record</a:t>
            </a:r>
            <a:endParaRPr sz="2000" b="0" i="0">
              <a:solidFill>
                <a:srgbClr val="E2F1E4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800" b="0" i="1">
                <a:solidFill>
                  <a:srgbClr val="FFFFFF"/>
                </a:solidFill>
                <a:latin typeface="Segoe UI" panose="020B0502040204020203"/>
              </a:rPr>
              <a:t>Questions — happy to go deeper on any layer.</a:t>
            </a:r>
            <a:endParaRPr sz="1800" b="0" i="1">
              <a:solidFill>
                <a:srgbClr val="FFFFF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6869</Words>
  <Application>WPS Presentation</Application>
  <PresentationFormat>On-screen Show (4:3)</PresentationFormat>
  <Paragraphs>200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Omar Kadis</cp:lastModifiedBy>
  <cp:revision>5</cp:revision>
  <dcterms:created xsi:type="dcterms:W3CDTF">2013-01-27T09:14:00Z</dcterms:created>
  <dcterms:modified xsi:type="dcterms:W3CDTF">2026-07-16T01:04:10Z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DFB37C9F780245C5B169FB46B72228BB_12</vt:lpwstr>
  </property>
</Properties>
</file>